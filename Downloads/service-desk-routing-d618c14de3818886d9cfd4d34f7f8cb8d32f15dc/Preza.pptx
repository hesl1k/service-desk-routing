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Raleway" pitchFamily="2" charset="-52"/>
      <p:regular r:id="rId21"/>
      <p:bold r:id="rId22"/>
      <p:italic r:id="rId23"/>
      <p:boldItalic r:id="rId24"/>
    </p:embeddedFont>
    <p:embeddedFont>
      <p:font typeface="Raleway Light" pitchFamily="2" charset="-52"/>
      <p:regular r:id="rId25"/>
      <p: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Bold" panose="02000000000000000000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99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5684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Маршрутизация обращений Service Desk с использованием LP-модели и REST API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208880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Проект: Service Desk / LP Route API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426791"/>
            <a:ext cx="4103191" cy="1651025"/>
          </a:xfrm>
          <a:prstGeom prst="roundRect">
            <a:avLst>
              <a:gd name="adj" fmla="val 541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550765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Направление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868588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Маршрутизация обращений и оптимизация назначений операторов с учётом множества ограничений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550765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Компоненты системы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868588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LP-ядро (MILP)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Адаптер форматов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Аналитика и Streamlit-дашборд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Нагрузочное тестирование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2632C-CBDA-4EAD-AB40-C24256F3F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764" y="4419600"/>
            <a:ext cx="17049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4721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Задача проекта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81683"/>
            <a:ext cx="3926979" cy="11651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595" y="1218009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Проблема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89595" y="1528911"/>
            <a:ext cx="3597176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Назначение тикетов подходящим сотрудникам с учётом множества ограничений — линия поддержки, навыки, канал связи, capacity, стоимость, SLA.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66963"/>
            <a:ext cx="3926979" cy="11651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9595" y="2503289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Цель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89595" y="2814191"/>
            <a:ext cx="3597176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Снизить стоимость обработки обращений и уменьшить число нераспределённых тикетов по сравнению с baseline-эвристикой (round-robin / first-fit).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652242"/>
            <a:ext cx="3926979" cy="9712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9595" y="3788569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Сравнение подходов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689595" y="4099471"/>
            <a:ext cx="3597176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LP-модель (MILP) противопоставляется baseline-эвристике. Целевой ориентир экономии: </a:t>
            </a:r>
            <a:r>
              <a:rPr lang="en-US" sz="950" b="1" dirty="0">
                <a:solidFill>
                  <a:schemeClr val="bg1">
                    <a:lumMod val="95000"/>
                  </a:schemeClr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≥ 7%</a:t>
            </a: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4725665" y="1066651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Учитываемые факторы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725665" y="1392585"/>
            <a:ext cx="1903363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52467" y="1519386"/>
            <a:ext cx="16497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L1 / L2 / L3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52467" y="1830288"/>
            <a:ext cx="16497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Линия поддержки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749207" y="1392585"/>
            <a:ext cx="1903437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76008" y="1519386"/>
            <a:ext cx="1649834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Skills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876008" y="1830288"/>
            <a:ext cx="16498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Навыки оператора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725665" y="2271117"/>
            <a:ext cx="1903363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52467" y="2397919"/>
            <a:ext cx="16497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Channel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52467" y="2708821"/>
            <a:ext cx="16497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Канал связи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49207" y="2271117"/>
            <a:ext cx="1903437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76008" y="2397919"/>
            <a:ext cx="1649834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SLA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876008" y="2708821"/>
            <a:ext cx="16498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Уровень сервиса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4725665" y="3149650"/>
            <a:ext cx="1903363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52467" y="3276451"/>
            <a:ext cx="16497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852467" y="3587353"/>
            <a:ext cx="164976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Стоимость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749207" y="3149650"/>
            <a:ext cx="1903437" cy="758354"/>
          </a:xfrm>
          <a:prstGeom prst="roundRect">
            <a:avLst>
              <a:gd name="adj" fmla="val 6763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876008" y="3276451"/>
            <a:ext cx="1649834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Capacity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876008" y="3587353"/>
            <a:ext cx="164983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Нагрузка</a:t>
            </a:r>
            <a:endParaRPr lang="en-US" sz="9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AE92036-3A0B-45D2-8922-AE661B91C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9025" y="4396829"/>
            <a:ext cx="17049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61246" y="202507"/>
            <a:ext cx="1626232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решения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54819" y="2571750"/>
            <a:ext cx="1053281" cy="458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Единый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конвейер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обработки</a:t>
            </a:r>
            <a:endParaRPr lang="en-US" sz="12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все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компоненты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используют</a:t>
            </a:r>
            <a:endParaRPr lang="en-US" sz="12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общий формат результата.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672" y="656358"/>
            <a:ext cx="4535612" cy="4535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4688" y="1523294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JSON-сценарий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4688" y="1817773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Входные данные: тикеты, операторы, конфиг.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45637" y="1523294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/route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45637" y="1817773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принимает внутренний и внешний форматы.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744815" y="3609483"/>
            <a:ext cx="1461440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Адаптер форматов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4815" y="4133227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Нормализация в общий формат результата.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45637" y="3724116"/>
            <a:ext cx="1461440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LP-ядро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45637" y="4018595"/>
            <a:ext cx="1461440" cy="412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Обработка логики и формирование результата.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6119" y="5276478"/>
            <a:ext cx="123974" cy="77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450" dirty="0"/>
          </a:p>
        </p:txBody>
      </p:sp>
      <p:sp>
        <p:nvSpPr>
          <p:cNvPr id="14" name="Shape 11"/>
          <p:cNvSpPr/>
          <p:nvPr/>
        </p:nvSpPr>
        <p:spPr>
          <a:xfrm>
            <a:off x="496119" y="5372249"/>
            <a:ext cx="2696617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496119" y="5422255"/>
            <a:ext cx="269661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JSON-сценарий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96119" y="5537746"/>
            <a:ext cx="269661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Входные данные: тикеты, операторы, конфигурация</a:t>
            </a:r>
            <a:endParaRPr lang="en-US" sz="450" dirty="0"/>
          </a:p>
        </p:txBody>
      </p:sp>
      <p:sp>
        <p:nvSpPr>
          <p:cNvPr id="17" name="Text 14"/>
          <p:cNvSpPr/>
          <p:nvPr/>
        </p:nvSpPr>
        <p:spPr>
          <a:xfrm>
            <a:off x="3223692" y="5276478"/>
            <a:ext cx="123974" cy="77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450" dirty="0"/>
          </a:p>
        </p:txBody>
      </p:sp>
      <p:sp>
        <p:nvSpPr>
          <p:cNvPr id="18" name="Shape 15"/>
          <p:cNvSpPr/>
          <p:nvPr/>
        </p:nvSpPr>
        <p:spPr>
          <a:xfrm>
            <a:off x="3223692" y="5372249"/>
            <a:ext cx="2696617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3223692" y="5422255"/>
            <a:ext cx="269661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POST /route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223692" y="5537746"/>
            <a:ext cx="269661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принимает внутренний и внешний форматы</a:t>
            </a:r>
            <a:endParaRPr lang="en-US" sz="450" dirty="0"/>
          </a:p>
        </p:txBody>
      </p:sp>
      <p:sp>
        <p:nvSpPr>
          <p:cNvPr id="21" name="Text 18"/>
          <p:cNvSpPr/>
          <p:nvPr/>
        </p:nvSpPr>
        <p:spPr>
          <a:xfrm>
            <a:off x="5951265" y="5276478"/>
            <a:ext cx="123974" cy="77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450" dirty="0"/>
          </a:p>
        </p:txBody>
      </p:sp>
      <p:sp>
        <p:nvSpPr>
          <p:cNvPr id="22" name="Shape 19"/>
          <p:cNvSpPr/>
          <p:nvPr/>
        </p:nvSpPr>
        <p:spPr>
          <a:xfrm>
            <a:off x="5951265" y="5372249"/>
            <a:ext cx="2696617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0"/>
          <p:cNvSpPr/>
          <p:nvPr/>
        </p:nvSpPr>
        <p:spPr>
          <a:xfrm>
            <a:off x="5951265" y="5422255"/>
            <a:ext cx="269661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Адаптер форматов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951265" y="5537746"/>
            <a:ext cx="269661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Нормализация полей, маппинг L1/L2/L3 → 1–3</a:t>
            </a:r>
            <a:endParaRPr lang="en-US" sz="450" dirty="0"/>
          </a:p>
        </p:txBody>
      </p:sp>
      <p:sp>
        <p:nvSpPr>
          <p:cNvPr id="25" name="Text 22"/>
          <p:cNvSpPr/>
          <p:nvPr/>
        </p:nvSpPr>
        <p:spPr>
          <a:xfrm>
            <a:off x="496119" y="5689550"/>
            <a:ext cx="123974" cy="77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450" dirty="0"/>
          </a:p>
        </p:txBody>
      </p:sp>
      <p:sp>
        <p:nvSpPr>
          <p:cNvPr id="26" name="Shape 23"/>
          <p:cNvSpPr/>
          <p:nvPr/>
        </p:nvSpPr>
        <p:spPr>
          <a:xfrm>
            <a:off x="496119" y="5785321"/>
            <a:ext cx="4060403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4"/>
          <p:cNvSpPr/>
          <p:nvPr/>
        </p:nvSpPr>
        <p:spPr>
          <a:xfrm>
            <a:off x="496119" y="5835328"/>
            <a:ext cx="406040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LP-ядро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96119" y="5950818"/>
            <a:ext cx="406040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Решение задачи MILP (scipy.optimize.milp / PuLP)</a:t>
            </a:r>
            <a:endParaRPr lang="en-US" sz="450" dirty="0"/>
          </a:p>
        </p:txBody>
      </p:sp>
      <p:sp>
        <p:nvSpPr>
          <p:cNvPr id="29" name="Text 26"/>
          <p:cNvSpPr/>
          <p:nvPr/>
        </p:nvSpPr>
        <p:spPr>
          <a:xfrm>
            <a:off x="4587478" y="5689550"/>
            <a:ext cx="123974" cy="77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450" dirty="0"/>
          </a:p>
        </p:txBody>
      </p:sp>
      <p:sp>
        <p:nvSpPr>
          <p:cNvPr id="30" name="Shape 27"/>
          <p:cNvSpPr/>
          <p:nvPr/>
        </p:nvSpPr>
        <p:spPr>
          <a:xfrm>
            <a:off x="4587478" y="5785321"/>
            <a:ext cx="4060403" cy="952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1" name="Text 28"/>
          <p:cNvSpPr/>
          <p:nvPr/>
        </p:nvSpPr>
        <p:spPr>
          <a:xfrm>
            <a:off x="4587478" y="5835328"/>
            <a:ext cx="4060403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 → Аналитика → Дашборд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587478" y="5950818"/>
            <a:ext cx="406040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Статус, стоимость, назначения; CSV/JSON-файлы; Streamlit-визуализация; нагрузочное тестирование</a:t>
            </a:r>
            <a:endParaRPr lang="en-US" sz="4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84BEE8A-19D2-4C40-BE12-458C48844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039" y="4401642"/>
            <a:ext cx="17049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305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LP-модель: формализация задачи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36141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Переменные и целевая функция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333351"/>
            <a:ext cx="1915492" cy="1068735"/>
          </a:xfrm>
          <a:prstGeom prst="roundRect">
            <a:avLst>
              <a:gd name="adj" fmla="val 449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706" y="1461939"/>
            <a:ext cx="165831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x[i,j] ∈ {0,1}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4706" y="1745977"/>
            <a:ext cx="1658317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Бинарная переменная назначения: 1, если тикет </a:t>
            </a: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назначен оператору </a:t>
            </a: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6981" y="1333351"/>
            <a:ext cx="1915567" cy="1068735"/>
          </a:xfrm>
          <a:prstGeom prst="roundRect">
            <a:avLst>
              <a:gd name="adj" fmla="val 449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45569" y="1461939"/>
            <a:ext cx="165839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u[i] ∈ {0,1}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5569" y="1745977"/>
            <a:ext cx="1658392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Переменная очереди: 1, если тикет </a:t>
            </a:r>
            <a:r>
              <a:rPr lang="en-US" sz="9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остался нераспределённым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507456"/>
            <a:ext cx="3936429" cy="892894"/>
          </a:xfrm>
          <a:prstGeom prst="roundRect">
            <a:avLst>
              <a:gd name="adj" fmla="val 537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706" y="2636044"/>
            <a:ext cx="3679254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 Σ cost·x[i,j] + Σ penalty·u[i]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4706" y="2920082"/>
            <a:ext cx="3679254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Целевая функция: минимизация суммарной стоимости обработки и штрафов за очередь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119" y="3518892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Backend-решатели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816102"/>
            <a:ext cx="3936429" cy="698004"/>
          </a:xfrm>
          <a:prstGeom prst="roundRect">
            <a:avLst>
              <a:gd name="adj" fmla="val 688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881" y="3820864"/>
            <a:ext cx="1963415" cy="688479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6" name="Text 14"/>
          <p:cNvSpPr/>
          <p:nvPr/>
        </p:nvSpPr>
        <p:spPr>
          <a:xfrm>
            <a:off x="615181" y="3935164"/>
            <a:ext cx="173481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Основной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5181" y="4219203"/>
            <a:ext cx="17348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scipy.optimize.milp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4296" y="3820864"/>
            <a:ext cx="1963489" cy="688479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2464296" y="3820864"/>
            <a:ext cx="14288" cy="688479"/>
          </a:xfrm>
          <a:prstGeom prst="roundRect">
            <a:avLst>
              <a:gd name="adj" fmla="val 336151"/>
            </a:avLst>
          </a:prstGeom>
          <a:solidFill>
            <a:srgbClr val="C7C7D0"/>
          </a:solidFill>
          <a:ln/>
        </p:spPr>
      </p:sp>
      <p:sp>
        <p:nvSpPr>
          <p:cNvPr id="20" name="Text 18"/>
          <p:cNvSpPr/>
          <p:nvPr/>
        </p:nvSpPr>
        <p:spPr>
          <a:xfrm>
            <a:off x="2578596" y="3935164"/>
            <a:ext cx="173488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Резервный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78596" y="4219203"/>
            <a:ext cx="1734889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PuLP (CBC-solver)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6214" y="1036141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Ограничения LP-модели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16214" y="1333351"/>
            <a:ext cx="3936429" cy="3276228"/>
          </a:xfrm>
          <a:prstGeom prst="roundRect">
            <a:avLst>
              <a:gd name="adj" fmla="val 146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6214" y="1652364"/>
            <a:ext cx="3936429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16214" y="2144837"/>
            <a:ext cx="3936429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16214" y="2637309"/>
            <a:ext cx="3936429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16214" y="3129781"/>
            <a:ext cx="3936429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16214" y="3622253"/>
            <a:ext cx="3936429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716214" y="4114726"/>
            <a:ext cx="3936429" cy="714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35351" y="1406128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Ограничение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98766" y="1406128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Описание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35351" y="1722760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Уровень поддержки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98766" y="1722760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Тикет L2 → только операторы L2/L3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5351" y="2215232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Навыки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98766" y="2215232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Совпадение skill-тегов тикета и оператора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5351" y="2707704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Канал связи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8766" y="2707704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/ chat / phone — соответствие каналу оператора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35351" y="3200177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98766" y="3200177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превышать рабочую нагрузку оператора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35351" y="3692649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Chat-slots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98766" y="3692649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Лимит одновременных чат-сессий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35351" y="4185121"/>
            <a:ext cx="219201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Очередь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98766" y="4185121"/>
            <a:ext cx="173481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Тикет либо назначен, либо помечен как u[i]=1</a:t>
            </a: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F4716FF-D082-4C09-985D-FC8FEFD74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57" y="4739545"/>
            <a:ext cx="1704975" cy="3780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5688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 API и адаптер форматов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412403" y="912540"/>
            <a:ext cx="4101480" cy="3845272"/>
          </a:xfrm>
          <a:prstGeom prst="roundRect">
            <a:avLst>
              <a:gd name="adj" fmla="val 217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28638" y="1021556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Основной endpoint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8638" y="1312218"/>
            <a:ext cx="432621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POST /route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8638" y="1644104"/>
            <a:ext cx="3869010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8638" y="1810048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Внешний формат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8638" y="2100709"/>
            <a:ext cx="4326210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Поля: </a:t>
            </a: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tickets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handle_time_minutes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8638" y="2437358"/>
            <a:ext cx="3869010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8638" y="2603302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Внутренний формат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8638" y="2893963"/>
            <a:ext cx="4326210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Поля: </a:t>
            </a: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tickets</a:t>
            </a: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00" dirty="0">
                <a:solidFill>
                  <a:srgbClr val="FFFFFF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8638" y="3230612"/>
            <a:ext cx="3869010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28638" y="3396555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Адаптер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638" y="3687217"/>
            <a:ext cx="432621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Маппинг L1/L2/L3 → 1/2/3, нормализация названий полей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18596" y="1021556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Структура ответа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18596" y="1325835"/>
            <a:ext cx="3934048" cy="3309342"/>
          </a:xfrm>
          <a:prstGeom prst="roundRect">
            <a:avLst>
              <a:gd name="adj" fmla="val 147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23358" y="1330598"/>
            <a:ext cx="3924523" cy="3205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39667" y="1400770"/>
            <a:ext cx="21845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Поле ответа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4273" y="1400770"/>
            <a:ext cx="21845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Описание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23358" y="1651174"/>
            <a:ext cx="3924523" cy="3253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39667" y="1721346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04273" y="1721346"/>
            <a:ext cx="21845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 / error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3358" y="1976512"/>
            <a:ext cx="3924523" cy="3253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39667" y="2046684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04273" y="2046684"/>
            <a:ext cx="21845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milp / pulp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23358" y="2301850"/>
            <a:ext cx="3924523" cy="5008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839667" y="2372023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total_cost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4273" y="2372023"/>
            <a:ext cx="1727374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Суммарная стоимость назначений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23358" y="2802657"/>
            <a:ext cx="3924523" cy="5008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39667" y="2872829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penalties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04273" y="2872829"/>
            <a:ext cx="1727374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Штрафы за нераспределённые тикеты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23358" y="3303463"/>
            <a:ext cx="3924523" cy="50080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39667" y="3373636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04273" y="3373636"/>
            <a:ext cx="1727374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Список назначений тикет → оператор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23358" y="3804270"/>
            <a:ext cx="3924523" cy="5008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39667" y="3874443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unassigned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04273" y="3874443"/>
            <a:ext cx="1727374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Список нераспределённых тикетов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23358" y="4305077"/>
            <a:ext cx="3924523" cy="3253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839667" y="4375249"/>
            <a:ext cx="2184574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solve_time_ms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04273" y="4375249"/>
            <a:ext cx="218457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 решения LP, мс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6161EFB-0731-4E24-A457-F01925793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025" y="4667099"/>
            <a:ext cx="1704975" cy="4656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8557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Сценарии и метрики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69777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Тестовые сценарии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353071"/>
            <a:ext cx="3941118" cy="2474714"/>
          </a:xfrm>
          <a:prstGeom prst="roundRect">
            <a:avLst>
              <a:gd name="adj" fmla="val 187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654894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121471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88047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54623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21199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66677" y="1353071"/>
            <a:ext cx="6905" cy="24747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1312" y="1421606"/>
            <a:ext cx="219975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Сценарий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79489" y="1421606"/>
            <a:ext cx="219975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Описание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11312" y="1721048"/>
            <a:ext cx="2199754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normal_load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79489" y="1721048"/>
            <a:ext cx="174255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Обычная нагрузка — базовый прогон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1312" y="2187625"/>
            <a:ext cx="2199754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peak_hours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79489" y="2187625"/>
            <a:ext cx="174255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Пиковый поток — высокий объём тикетов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1312" y="2654201"/>
            <a:ext cx="2199754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l2_shortage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79489" y="2654201"/>
            <a:ext cx="174255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Дефицит операторов второй линии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1312" y="3120777"/>
            <a:ext cx="2199754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many_critical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79489" y="3120777"/>
            <a:ext cx="1742554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Большая доля критичных обращений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1312" y="3587353"/>
            <a:ext cx="2199754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chat_overload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79489" y="3587353"/>
            <a:ext cx="219975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Перегрузка чат-канала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11526" y="1069777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Метрики оценки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11526" y="1353071"/>
            <a:ext cx="3941118" cy="3201144"/>
          </a:xfrm>
          <a:prstGeom prst="roundRect">
            <a:avLst>
              <a:gd name="adj" fmla="val 145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1526" y="1654894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11526" y="1954337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11526" y="2253779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11526" y="2720355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711526" y="3186931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11526" y="3486373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711526" y="3785815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11526" y="4085258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26719" y="1421606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92516" y="1421606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Что измеряет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26719" y="1721048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Cost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92516" y="1721048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Суммарная стоимость обработки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6719" y="2020491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Savings / Savings %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792516" y="2020491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Экономия относительно baseline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26719" y="2319933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Level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92516" y="2319933"/>
            <a:ext cx="174493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Доля тикетов, обработанных в SLA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26719" y="2786509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L3 Escalation Rate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92516" y="2786509"/>
            <a:ext cx="174493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Доля эскалаций на третью линию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26719" y="3253085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92516" y="3253085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Загрузка операторов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26719" y="3552527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Throughput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792516" y="3552527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Тикетов в единицу времени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26719" y="3851970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 Time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92516" y="3851970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 решения LP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26719" y="4151412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AFRT / ART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92516" y="4151412"/>
            <a:ext cx="1744935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Среднее время первого ответа / обработки</a:t>
            </a:r>
            <a:endParaRPr lang="en-US" sz="85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3266C0D-3341-42BA-A714-985C0B5C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025" y="4619983"/>
            <a:ext cx="1704975" cy="453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Экономический результат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89948" y="1211511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12 625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89948" y="1470397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Baseline, у.е.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089948" y="1585888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Стоимость при эвристическом назначении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6089948" y="2941613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9 596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89948" y="3200499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LP-модель, у.е.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89948" y="3315990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Стоимость при оптимальном назначении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6089948" y="1753171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3 029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89948" y="2012057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Экономия, у.е.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89948" y="2127548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Абсолютное снижение стоимости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6089948" y="3483273"/>
            <a:ext cx="4056534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23.99%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89948" y="3742159"/>
            <a:ext cx="4056534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Экономия, 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31165" y="3857719"/>
            <a:ext cx="405653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Целевой ориентир 7% </a:t>
            </a:r>
            <a:r>
              <a:rPr lang="en-US" sz="6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превышен</a:t>
            </a: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на всех пяти сценариях</a:t>
            </a:r>
            <a:endParaRPr lang="en-US" sz="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47006"/>
            <a:ext cx="6609518" cy="383177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6119" y="6252865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LP-модель стабильно превышает целевой ориентир 7% экономии во всех сценариях. Наибольший эффект достигается при пиковой нагрузке и перегрузке чат-канала.</a:t>
            </a:r>
            <a:endParaRPr lang="en-US" sz="4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43C630-E8C7-4A0A-BC57-0CC124E83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107" y="4611080"/>
            <a:ext cx="1704975" cy="4746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079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Нагрузочное тестирование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16112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Тест выполнялся на локальном окружении с учебными сценариями. Все 500 запросов обработаны без единой ошибки.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6570" y="1193899"/>
            <a:ext cx="4100215" cy="3575447"/>
          </a:xfrm>
          <a:prstGeom prst="roundRect">
            <a:avLst>
              <a:gd name="adj" fmla="val 222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7000" y="1359768"/>
            <a:ext cx="3879354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27000" y="1853282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Запросов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7000" y="2124298"/>
            <a:ext cx="387935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Всего отправлено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27000" y="2543398"/>
            <a:ext cx="3879354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27000" y="3036912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Ошибок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7000" y="3307928"/>
            <a:ext cx="387935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 отказов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7000" y="3727028"/>
            <a:ext cx="3879354" cy="36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100.13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527000" y="4220542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RPS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7000" y="4491558"/>
            <a:ext cx="387935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Пропускная способность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11526" y="1292275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Детальные результаты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1526" y="1575569"/>
            <a:ext cx="3941118" cy="2100858"/>
          </a:xfrm>
          <a:prstGeom prst="roundRect">
            <a:avLst>
              <a:gd name="adj" fmla="val 22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1526" y="1877392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11526" y="2176835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711526" y="2476277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711526" y="2775719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711526" y="3075161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11526" y="3374603"/>
            <a:ext cx="3941118" cy="690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26719" y="1644104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Метрика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92516" y="1644104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Значение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26719" y="1943546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Всего запросов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92516" y="1943546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26719" y="2242989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Ошибок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792516" y="2242989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(0%)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6719" y="2542431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Пропускная способность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92516" y="2542431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100.13 RPS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26719" y="2841873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Среднее время ответа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92516" y="2841873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3.45 мс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26719" y="3141315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p95 (95-й перцентиль)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92516" y="3141315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4.95 мс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26719" y="3440757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p99 (99-й перцентиль)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92516" y="3440757"/>
            <a:ext cx="2202135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13.04 мс</a:t>
            </a:r>
            <a:endParaRPr lang="en-US" sz="8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9096FF0-BC41-42FE-B0D8-E8E795279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907" y="4393183"/>
            <a:ext cx="17049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2173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Результаты проекта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28626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Реализованные компоненты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1353183"/>
            <a:ext cx="180231" cy="180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569" y="1347267"/>
            <a:ext cx="3538835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LP-ядро (MILP) с двумя backend-решателями (scipy.optimize.milp + PuLP/CBC)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1964420"/>
            <a:ext cx="180231" cy="1802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569" y="1958504"/>
            <a:ext cx="35388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с адаптером внешнего и внутреннего форматов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2563602"/>
            <a:ext cx="180231" cy="1802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6569" y="2557686"/>
            <a:ext cx="35388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Streamlit-дашборд для визуализации метрик и сценариев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3162784"/>
            <a:ext cx="180231" cy="1802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6569" y="3156868"/>
            <a:ext cx="3538835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Нагрузочное тестирование: 500 запросов, 0 ошибок, 100.13 RPS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3774021"/>
            <a:ext cx="180231" cy="18023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86569" y="3768105"/>
            <a:ext cx="35388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Unit- и integration-тесты для всех компонентов системы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4723358" y="1028626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Артефакты проекта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4723358" y="1347267"/>
            <a:ext cx="3929286" cy="3303166"/>
          </a:xfrm>
          <a:prstGeom prst="roundRect">
            <a:avLst>
              <a:gd name="adj" fmla="val 152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728121" y="1352029"/>
            <a:ext cx="3919761" cy="3383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4848299" y="1426592"/>
            <a:ext cx="217445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Файл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810524" y="1426592"/>
            <a:ext cx="217445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Содержание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728121" y="1690390"/>
            <a:ext cx="3919761" cy="5275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4848299" y="1764953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metrics_summary.csv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810524" y="1764953"/>
            <a:ext cx="171725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Сводные метрики по сценариям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4728121" y="2217986"/>
            <a:ext cx="3919761" cy="5275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4848299" y="2292548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ticket_results.csv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6810524" y="2292548"/>
            <a:ext cx="171725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Результаты назначений по тикетам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728121" y="2745581"/>
            <a:ext cx="3919761" cy="3431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4848299" y="2820144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raw_results.json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6810524" y="2820144"/>
            <a:ext cx="217445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Сырые ответы LP-модели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728121" y="3088704"/>
            <a:ext cx="3919761" cy="3431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4848299" y="3163267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economy_summary.json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810524" y="3163267"/>
            <a:ext cx="217445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Экономический анализ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728121" y="3431828"/>
            <a:ext cx="3919761" cy="34312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4848299" y="3506391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load_test_summary.json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810524" y="3506391"/>
            <a:ext cx="217445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Сводка нагрузочного теста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728121" y="3774951"/>
            <a:ext cx="3919761" cy="34312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848299" y="3849514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load_test_results.csv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810524" y="3849514"/>
            <a:ext cx="217445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Детальные результаты теста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728121" y="4118074"/>
            <a:ext cx="3919761" cy="5275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4848299" y="4192637"/>
            <a:ext cx="2174453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load_test_report.md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6810524" y="4192637"/>
            <a:ext cx="171725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Отчёт по нагрузочному тестированию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46BF9D9-5181-4349-B788-FA66C4B37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350" y="4855046"/>
            <a:ext cx="1127125" cy="2143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630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Ограничения и выводы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3386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Известные ограничения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67235"/>
            <a:ext cx="1900312" cy="13881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1705496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Docker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91530" y="2023318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Docker-образ не собирался в текущем окружении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0404" y="1567235"/>
            <a:ext cx="1900312" cy="13881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15816" y="1705496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AFRT / ART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2715816" y="2023318"/>
            <a:ext cx="156663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Рассчитаны моделированием, а не по реальным временным отметкам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79403"/>
            <a:ext cx="1900312" cy="13881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1530" y="3217664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Chat-модель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691530" y="3535487"/>
            <a:ext cx="156663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Полноценная модель чатов требует временной сетки или отдельной задачи расписания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0404" y="3079403"/>
            <a:ext cx="1900312" cy="13881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15816" y="3217664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Масштабируемость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2715816" y="3535487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chemeClr val="bg1">
                    <a:lumMod val="95000"/>
                  </a:scheme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росте числа тикетов время решения MILP будет увеличиваться</a:t>
            </a:r>
            <a:endParaRPr lang="en-US" sz="9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638749" y="1109886"/>
            <a:ext cx="4103191" cy="3497238"/>
          </a:xfrm>
          <a:prstGeom prst="roundRect">
            <a:avLst>
              <a:gd name="adj" fmla="val 255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762723" y="1233860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Итоговый вывод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762723" y="1551682"/>
            <a:ext cx="385524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 приведён к единой рабочей структуре. LP-ядро вызывается напрямую и через REST API, аналитика использует реальный ответ модели, дашборд читает итоговые файлы, нагрузочный тест обращается к тому же сервису.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762723" y="2516014"/>
            <a:ext cx="3855244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762723" y="2700784"/>
            <a:ext cx="1865635" cy="972220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91460" y="2829520"/>
            <a:ext cx="16081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23.99%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91460" y="3147343"/>
            <a:ext cx="160816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Суммарная экономия на пяти сценариях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752332" y="2700784"/>
            <a:ext cx="1865635" cy="972220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81068" y="2829520"/>
            <a:ext cx="16081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 → ✓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881068" y="3147343"/>
            <a:ext cx="160816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Целевой ориентир достигнут и превышен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A4A8059-B9F8-46EE-87CF-09D1AA1C7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427" y="4652516"/>
            <a:ext cx="1704975" cy="490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947</Words>
  <Application>Microsoft Office PowerPoint</Application>
  <PresentationFormat>On-screen Show (16:9)</PresentationFormat>
  <Paragraphs>234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Roboto</vt:lpstr>
      <vt:lpstr>Arial</vt:lpstr>
      <vt:lpstr>Raleway Light</vt:lpstr>
      <vt:lpstr>Roboto Bold</vt:lpstr>
      <vt:lpstr>Calibri</vt:lpstr>
      <vt:lpstr>Consolas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Максим Бессонов</dc:creator>
  <cp:lastModifiedBy>Максим</cp:lastModifiedBy>
  <cp:revision>5</cp:revision>
  <dcterms:created xsi:type="dcterms:W3CDTF">2026-07-26T18:53:01Z</dcterms:created>
  <dcterms:modified xsi:type="dcterms:W3CDTF">2026-07-26T19:14:45Z</dcterms:modified>
</cp:coreProperties>
</file>